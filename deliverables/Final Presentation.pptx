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notesMasterIdLst>
    <p:notesMasterId r:id="rId16"/>
  </p:notesMasterIdLst>
  <p:sldIdLst>
    <p:sldId id="288" r:id="rId2"/>
    <p:sldId id="293" r:id="rId3"/>
    <p:sldId id="294" r:id="rId4"/>
    <p:sldId id="295" r:id="rId5"/>
    <p:sldId id="260" r:id="rId6"/>
    <p:sldId id="296" r:id="rId7"/>
    <p:sldId id="297" r:id="rId8"/>
    <p:sldId id="263" r:id="rId9"/>
    <p:sldId id="298" r:id="rId10"/>
    <p:sldId id="274" r:id="rId11"/>
    <p:sldId id="273" r:id="rId12"/>
    <p:sldId id="300" r:id="rId13"/>
    <p:sldId id="287" r:id="rId14"/>
    <p:sldId id="27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5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58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1151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opening (~25s). We're Group 3. SummarAI turns any meeting into structured records — decisions, notes, owned action items — and then lets you ASK an agent across all of them. Those tagged rows are the actual product output; you'll see them live. Straight into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(~45s). Meetings eat the week, and their value leaks the moment the call ends: decisions misremembered, action items dropped. A 5-person team loses ~85 hours a year just re-reading notes. Tools like Otter or Copilot give you one transcript per meeting — none let you query across your whole history with accountability. That gap is our niche.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(~40s). Two moves. One: summarise — schema-validated summary, takeaways split into decisions vs notes, owned action items. Two, the course piece: ask. Once meetings accumulate you query them in plain language and an agent answers from the archive with citations. The screenshot is real output. Next, how it's wired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(~40s). It's deliberately simple: one FastAPI app serves both the JSON API and the single-page UI. The browser talks to it with plain fetch calls; the backend fans out to local Whisper, Claude Haiku, Gemini embeddings, and Supabase with pgvector. Nothing is mocked — upload, save and ask are all live, and the Ask panel streams the agent's trace so you can see the integration working. Hand to [Speaker 3] for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(~35s). The pipeline: audio in, faster-whisper transcribes locally with int8 on CPU, the transcript (up to 300K chars) goes to Claude Haiku, which returns structured JSON — summary, tagged takeaways, owned action items. If you already have a text transcript it skips transcription entirely. The structuring is done by a schema-constrained model call, not fragile string parsing.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(~40s). Two prompts, both engineered for control. The summariser forces a 2-sentence summary, comprehensive takeaways tagged decision or note, and owners only when actually said — never invented. The RAG prompt is strict grounding: use only the retrieved context, cite the meeting, and say 'not found' rather than guess. Output is schema-locked so it always parses, and we use Haiku 4.5 on purpose — transcription is the slow part, so a bigger model would just cost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3 (~40s). Transcription was the slow part, so we engineered it: 470 seconds down to 132 on the same 20-minute file — a 72% cut with zero accuracy loss, character counts basically identical. Four levers: the English-only base.en model, greedy decoding, all CPU cores, and skipping language detection. End to end that's 3.5× faster. Over to [Speaker 4] for retrieval and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(~45s). Retrieval is classic RAG with one nice detail. On save, each summary is embedded with Gemini using the retrieval_document task type and stored in pgvector as a 1536-dim vector with an HNSW cosine index. On a question, we embed with retrieval_query — the asymmetric task types matter — do a cosine top-3, and Claude grounds its answer in those, returning source chips with title, date and similarity. We chose RAG over fine-tuning: no labels needed, instant updates, far cheaper.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(~45s). The agent is deliberately a SINGLE tool-using agent. A question comes in; Claude picks from five tools, the backend runs it, the result feeds back, and it loops — capped at five rounds. The tools: semantic search, get one meeting, list action items, find overdue, draft a follow-up. We rejected multi-agent on purpose: orchestration adds coordination failures that are hard to defend in a demo. One agent, one loop, fixed toolbox, step cap —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4 (~40s). Four guardrails. A hard step cap of five stops runaway loops. All tools are read-only — nothing irreversible can happen. The system prompt forces grounding: back every claim or say 'not found', and we verify that with an adversarial test. And overdue detection only trusts real ISO dates, so it never invents a deadline. That's the rubric's hallucination, security, and agent-loop boxes, ticked. Now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PRESENTER (~2:00). Switch slide — leave it up and alt-tab to the running app. Script: (1) paste a short meeting, show the tagged summary + owned action items; (2) save it; (3) open Ask: first a grounded question ('what's overdue / who owns X?') so the trace and source chips show; then an out-of-scope question so the guardrail declines instead of inventing. Keep under 2 min. If it breaks, play the backup capture and narrate. Hand to [Speaker 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5 (~45s). We evaluated the agent, not the vibes. Because open Q&amp;A has no fixed answer, we used Claude as an LLM judge scoring each answer against the agent's own tool trace — faithfulness and relevancy both 1.0, ~4.5s latency, 100% within the step cap, and the adversarial guardrail question was correctly declined. Separately the summariser scores 0.335 ROUGE-1 and 42% action recall against human AMI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5 (~35s). We're honest about limits. The biggest is that the transcription has no speaker labels, so implied ownership stays blank, and mishearing names can misattribute a task. Overlapping speech and non-English audio also hurt. The roadmap is prioritised: speaker diarization with pyannote is the top fix, then a larger Whisper model, then confidence signals and hosted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5 — close (~30s). The payback is time: a 5-person team loses ~85 hours a year to re-discovery; SummarAI answers the same questions in under 5 seconds. Our niche is cross-meeting memory with accountability, on an open, private, cheap stack — and because answers are cited, teams can trust them. Thanks — we'd love your questions. (Leave Q&amp;A time within the limit.)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280160"/>
            <a:ext cx="4754880" cy="4754880"/>
          </a:xfrm>
          <a:prstGeom prst="ellipse">
            <a:avLst/>
          </a:prstGeom>
          <a:solidFill>
            <a:srgbClr val="6A5CE0">
              <a:alpha val="1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9722815" y="-457200"/>
            <a:ext cx="3108960" cy="3108960"/>
          </a:xfrm>
          <a:prstGeom prst="ellipse">
            <a:avLst/>
          </a:prstGeom>
          <a:solidFill>
            <a:srgbClr val="8A97F2">
              <a:alpha val="20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Shape 2"/>
          <p:cNvSpPr/>
          <p:nvPr/>
        </p:nvSpPr>
        <p:spPr>
          <a:xfrm>
            <a:off x="10408615" y="228600"/>
            <a:ext cx="1737360" cy="1737360"/>
          </a:xfrm>
          <a:prstGeom prst="ellipse">
            <a:avLst/>
          </a:prstGeom>
          <a:solidFill>
            <a:srgbClr val="33D6B6">
              <a:alpha val="14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658368" y="11932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877824" y="11430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 ·  FINAL PROJECT  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2648" y="160020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8600" dirty="0"/>
          </a:p>
        </p:txBody>
      </p:sp>
      <p:sp>
        <p:nvSpPr>
          <p:cNvPr id="8" name="Text 6"/>
          <p:cNvSpPr/>
          <p:nvPr/>
        </p:nvSpPr>
        <p:spPr>
          <a:xfrm>
            <a:off x="658368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meeting into structured, searchable memory then ask an AI agent about it.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3977640"/>
            <a:ext cx="7955280" cy="1207008"/>
          </a:xfrm>
          <a:prstGeom prst="roundRect">
            <a:avLst>
              <a:gd name="adj" fmla="val 9091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0" name="Shape 8"/>
          <p:cNvSpPr/>
          <p:nvPr/>
        </p:nvSpPr>
        <p:spPr>
          <a:xfrm>
            <a:off x="914400" y="4215384"/>
            <a:ext cx="808330" cy="274320"/>
          </a:xfrm>
          <a:prstGeom prst="roundRect">
            <a:avLst>
              <a:gd name="adj" fmla="val 20000"/>
            </a:avLst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914400" y="4215384"/>
            <a:ext cx="8083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29968" y="41605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delayed one week for performance testing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4400" y="4581144"/>
            <a:ext cx="7443216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4" name="Shape 12"/>
          <p:cNvSpPr/>
          <p:nvPr/>
        </p:nvSpPr>
        <p:spPr>
          <a:xfrm>
            <a:off x="914400" y="474573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6183A"/>
          </a:solidFill>
          <a:ln w="15240">
            <a:solidFill>
              <a:srgbClr val="8A97F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Text 13"/>
          <p:cNvSpPr/>
          <p:nvPr/>
        </p:nvSpPr>
        <p:spPr>
          <a:xfrm>
            <a:off x="1316736" y="46908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API latency fix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38928" y="4754880"/>
            <a:ext cx="656539" cy="274320"/>
          </a:xfrm>
          <a:prstGeom prst="roundRect">
            <a:avLst>
              <a:gd name="adj" fmla="val 20000"/>
            </a:avLst>
          </a:prstGeom>
          <a:solidFill>
            <a:srgbClr val="2C3270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5138928" y="4754880"/>
            <a:ext cx="656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8A9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@Marco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1928" y="4754880"/>
            <a:ext cx="808330" cy="274320"/>
          </a:xfrm>
          <a:prstGeom prst="roundRect">
            <a:avLst>
              <a:gd name="adj" fmla="val 20000"/>
            </a:avLst>
          </a:prstGeom>
          <a:solidFill>
            <a:srgbClr val="3A315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281928" y="4754880"/>
            <a:ext cx="8083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E2A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6053328"/>
            <a:ext cx="1488643" cy="384048"/>
          </a:xfrm>
          <a:prstGeom prst="roundRect">
            <a:avLst>
              <a:gd name="adj" fmla="val 16667"/>
            </a:avLst>
          </a:prstGeom>
          <a:solidFill>
            <a:srgbClr val="1E2049"/>
          </a:solidFill>
          <a:ln w="12700">
            <a:solidFill>
              <a:srgbClr val="3A3E7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658368" y="6053328"/>
            <a:ext cx="14886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9C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faster-whisper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11603" y="6053328"/>
            <a:ext cx="1656893" cy="384048"/>
          </a:xfrm>
          <a:prstGeom prst="roundRect">
            <a:avLst>
              <a:gd name="adj" fmla="val 16667"/>
            </a:avLst>
          </a:prstGeom>
          <a:solidFill>
            <a:srgbClr val="1E2049"/>
          </a:solidFill>
          <a:ln w="12700">
            <a:solidFill>
              <a:srgbClr val="3A3E7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2311603" y="6053328"/>
            <a:ext cx="16568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9C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33088" y="6053328"/>
            <a:ext cx="1993392" cy="384048"/>
          </a:xfrm>
          <a:prstGeom prst="roundRect">
            <a:avLst>
              <a:gd name="adj" fmla="val 16667"/>
            </a:avLst>
          </a:prstGeom>
          <a:solidFill>
            <a:srgbClr val="1E2049"/>
          </a:solidFill>
          <a:ln w="12700">
            <a:solidFill>
              <a:srgbClr val="3A3E7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6" name="Text 24"/>
          <p:cNvSpPr/>
          <p:nvPr/>
        </p:nvSpPr>
        <p:spPr>
          <a:xfrm>
            <a:off x="4133088" y="605332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9C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gemini-embedding-001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91072" y="6053328"/>
            <a:ext cx="983894" cy="384048"/>
          </a:xfrm>
          <a:prstGeom prst="roundRect">
            <a:avLst>
              <a:gd name="adj" fmla="val 16667"/>
            </a:avLst>
          </a:prstGeom>
          <a:solidFill>
            <a:srgbClr val="1E2049"/>
          </a:solidFill>
          <a:ln w="12700">
            <a:solidFill>
              <a:srgbClr val="3A3E7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Text 26"/>
          <p:cNvSpPr/>
          <p:nvPr/>
        </p:nvSpPr>
        <p:spPr>
          <a:xfrm>
            <a:off x="6291072" y="6053328"/>
            <a:ext cx="9838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9C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pgvector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39558" y="6053328"/>
            <a:ext cx="899770" cy="384048"/>
          </a:xfrm>
          <a:prstGeom prst="roundRect">
            <a:avLst>
              <a:gd name="adj" fmla="val 16667"/>
            </a:avLst>
          </a:prstGeom>
          <a:solidFill>
            <a:srgbClr val="1E2049"/>
          </a:solidFill>
          <a:ln w="12700">
            <a:solidFill>
              <a:srgbClr val="3A3E7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0" name="Text 28"/>
          <p:cNvSpPr/>
          <p:nvPr/>
        </p:nvSpPr>
        <p:spPr>
          <a:xfrm>
            <a:off x="7439558" y="6053328"/>
            <a:ext cx="8997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9C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28177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E2A03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Meetings cost more after they end.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1920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990088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professionals call meetings unproductive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779776"/>
            <a:ext cx="521208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0" name="Text 8"/>
          <p:cNvSpPr/>
          <p:nvPr/>
        </p:nvSpPr>
        <p:spPr>
          <a:xfrm>
            <a:off x="658368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 10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990088" y="2834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actually get followed up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694176"/>
            <a:ext cx="521208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658368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E9C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≈85 hrs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2990088" y="3749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 person team loses per year re-reading notes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4773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C4C9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isn't the meeting it's the re-discovery of decisions that were already made.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510528" y="1874520"/>
            <a:ext cx="5022799" cy="4315968"/>
          </a:xfrm>
          <a:prstGeom prst="roundRect">
            <a:avLst>
              <a:gd name="adj" fmla="val 2966"/>
            </a:avLst>
          </a:prstGeom>
          <a:solidFill>
            <a:srgbClr val="1B1E47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6894576" y="2121408"/>
            <a:ext cx="42912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existing tools stop</a:t>
            </a:r>
            <a:endParaRPr lang="en-US" sz="18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273405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223760" y="2651760"/>
            <a:ext cx="3925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6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Otter, Fireflies, Copilot, Zoom: one transcript per meeting</a:t>
            </a:r>
            <a:endParaRPr lang="en-US" sz="12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3246120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223760" y="3163824"/>
            <a:ext cx="3925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6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vs note distinction</a:t>
            </a:r>
            <a:endParaRPr lang="en-US" sz="12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3758184"/>
            <a:ext cx="201168" cy="2011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223760" y="3675888"/>
            <a:ext cx="3925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6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 attributed unreliably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4270248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23760" y="4187952"/>
            <a:ext cx="3925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6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across meetings you can't query history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76" y="4782312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223760" y="4700016"/>
            <a:ext cx="3925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D6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Cross-meeting tools that exist are closed, costly SaaS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894576" y="5276088"/>
            <a:ext cx="4254703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9" name="Text 22"/>
          <p:cNvSpPr/>
          <p:nvPr/>
        </p:nvSpPr>
        <p:spPr>
          <a:xfrm>
            <a:off x="6894576" y="5385816"/>
            <a:ext cx="4291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niche:  </a:t>
            </a:r>
            <a:r>
              <a:rPr lang="en-US" sz="1400" dirty="0">
                <a:solidFill>
                  <a:srgbClr val="E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cross-meeting memory + action accountability, on an open stack.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AB2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61346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57785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5778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moves: summarise, then ask.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22733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527048" y="229158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Summarise a meeting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27048" y="27487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DE" sz="1300" b="0" i="0" u="none" strike="noStrike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Upload audio or paste a transcript. The outcome: a 2-sentence summary, key takeaways tagged </a:t>
            </a:r>
            <a:r>
              <a:rPr lang="en-DE" sz="1300" b="0" i="1" u="none" strike="noStrike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decision</a:t>
            </a:r>
            <a:r>
              <a:rPr lang="en-DE" sz="1300" b="0" i="0" u="none" strike="noStrike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DE" sz="1300" b="0" i="1" u="none" strike="noStrike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note</a:t>
            </a:r>
            <a:r>
              <a:rPr lang="en-DE" sz="1300" b="0" i="0" u="none" strike="noStrike" dirty="0"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action items with owner and deadline.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-&gt; --&gt; only when actually said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" y="3900932"/>
            <a:ext cx="577850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658368" y="41021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8A9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27048" y="412038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across every saved meeting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527048" y="4577588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“What's overdue?” · “Who owns the design task?” · “Draft a recap.” A single agent answers from the archive grounded in real meetings and cited, never guessed.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82929" y="344777"/>
            <a:ext cx="5040262" cy="6128725"/>
          </a:xfrm>
          <a:prstGeom prst="roundRect">
            <a:avLst>
              <a:gd name="adj" fmla="val 3082"/>
            </a:avLst>
          </a:prstGeom>
          <a:solidFill>
            <a:srgbClr val="16183A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pic>
        <p:nvPicPr>
          <p:cNvPr id="17" name="Image 0" descr="summa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92657" y="344776"/>
            <a:ext cx="5040263" cy="612872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AB2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874567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5560E0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INTEGRATION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backend, wired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58368" y="233172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1B1E47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658368" y="24780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SPA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8254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8D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 + JS </a:t>
            </a:r>
            <a:endParaRPr lang="en-US" sz="9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642616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054096" y="295351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8CC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721608" y="219456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5560E0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10"/>
          <p:cNvSpPr/>
          <p:nvPr/>
        </p:nvSpPr>
        <p:spPr>
          <a:xfrm>
            <a:off x="3721608" y="23500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721608" y="2788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DDE2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app: JSON API + the UI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93408" y="1783080"/>
            <a:ext cx="4839919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6" name="Text 13"/>
          <p:cNvSpPr/>
          <p:nvPr/>
        </p:nvSpPr>
        <p:spPr>
          <a:xfrm>
            <a:off x="6931152" y="1932434"/>
            <a:ext cx="3376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1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faster-whisper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978847" y="178308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ASR</a:t>
            </a:r>
            <a:endParaRPr lang="en-US" sz="10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 flipV="1">
            <a:off x="6373368" y="2093976"/>
            <a:ext cx="320040" cy="694944"/>
          </a:xfrm>
          <a:prstGeom prst="line">
            <a:avLst/>
          </a:prstGeom>
          <a:noFill/>
          <a:ln w="12700">
            <a:solidFill>
              <a:srgbClr val="C7CC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Shape 16"/>
          <p:cNvSpPr/>
          <p:nvPr/>
        </p:nvSpPr>
        <p:spPr>
          <a:xfrm>
            <a:off x="6693408" y="2560320"/>
            <a:ext cx="4839919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0" name="Text 17"/>
          <p:cNvSpPr/>
          <p:nvPr/>
        </p:nvSpPr>
        <p:spPr>
          <a:xfrm>
            <a:off x="6931152" y="2709674"/>
            <a:ext cx="3376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1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978847" y="256032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+ agent</a:t>
            </a:r>
            <a:endParaRPr lang="en-US" sz="10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373368" y="2788920"/>
            <a:ext cx="320040" cy="82296"/>
          </a:xfrm>
          <a:prstGeom prst="line">
            <a:avLst/>
          </a:prstGeom>
          <a:noFill/>
          <a:ln w="12700">
            <a:solidFill>
              <a:srgbClr val="C7CC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Shape 20"/>
          <p:cNvSpPr/>
          <p:nvPr/>
        </p:nvSpPr>
        <p:spPr>
          <a:xfrm>
            <a:off x="6693408" y="3337560"/>
            <a:ext cx="4839919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4" name="Text 21"/>
          <p:cNvSpPr/>
          <p:nvPr/>
        </p:nvSpPr>
        <p:spPr>
          <a:xfrm>
            <a:off x="6931152" y="3486914"/>
            <a:ext cx="3376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1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gemini-embedding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9978847" y="33375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10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373368" y="2788920"/>
            <a:ext cx="320040" cy="859536"/>
          </a:xfrm>
          <a:prstGeom prst="line">
            <a:avLst/>
          </a:prstGeom>
          <a:noFill/>
          <a:ln w="12700">
            <a:solidFill>
              <a:srgbClr val="C7CC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7" name="Shape 24"/>
          <p:cNvSpPr/>
          <p:nvPr/>
        </p:nvSpPr>
        <p:spPr>
          <a:xfrm>
            <a:off x="6693408" y="4114800"/>
            <a:ext cx="4839919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8" name="Text 25"/>
          <p:cNvSpPr/>
          <p:nvPr/>
        </p:nvSpPr>
        <p:spPr>
          <a:xfrm>
            <a:off x="6931152" y="4264154"/>
            <a:ext cx="3376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1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· pgvector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9978847" y="411480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+ search</a:t>
            </a:r>
            <a:endParaRPr lang="en-US" sz="10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0" name="Shape 27"/>
          <p:cNvSpPr/>
          <p:nvPr/>
        </p:nvSpPr>
        <p:spPr>
          <a:xfrm>
            <a:off x="6373368" y="2788920"/>
            <a:ext cx="320040" cy="1636776"/>
          </a:xfrm>
          <a:prstGeom prst="line">
            <a:avLst/>
          </a:prstGeom>
          <a:noFill/>
          <a:ln w="12700">
            <a:solidFill>
              <a:srgbClr val="C7CCE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1" name="Shape 28"/>
          <p:cNvSpPr/>
          <p:nvPr/>
        </p:nvSpPr>
        <p:spPr>
          <a:xfrm>
            <a:off x="658368" y="4023360"/>
            <a:ext cx="10874959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2" name="Shape 29"/>
          <p:cNvSpPr/>
          <p:nvPr/>
        </p:nvSpPr>
        <p:spPr>
          <a:xfrm>
            <a:off x="658368" y="4169664"/>
            <a:ext cx="808330" cy="274320"/>
          </a:xfrm>
          <a:prstGeom prst="roundRect">
            <a:avLst>
              <a:gd name="adj" fmla="val 20000"/>
            </a:avLst>
          </a:prstGeom>
          <a:solidFill>
            <a:srgbClr val="DCF3E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3" name="Text 30"/>
          <p:cNvSpPr/>
          <p:nvPr/>
        </p:nvSpPr>
        <p:spPr>
          <a:xfrm>
            <a:off x="658368" y="4169664"/>
            <a:ext cx="8083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9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mocks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2121408" y="4114800"/>
            <a:ext cx="94119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-&gt;  upload, save, ask -&gt; is a real fetch with live results.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58368" y="47183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DCF3E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6" name="Text 33"/>
          <p:cNvSpPr/>
          <p:nvPr/>
        </p:nvSpPr>
        <p:spPr>
          <a:xfrm>
            <a:off x="658368" y="471830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9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2121408" y="4663440"/>
            <a:ext cx="94119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panel streams the agent's tool-call trace as it runs.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" y="5266944"/>
            <a:ext cx="1187806" cy="274320"/>
          </a:xfrm>
          <a:prstGeom prst="roundRect">
            <a:avLst>
              <a:gd name="adj" fmla="val 20000"/>
            </a:avLst>
          </a:prstGeom>
          <a:solidFill>
            <a:srgbClr val="DCF3E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9" name="Text 36"/>
          <p:cNvSpPr/>
          <p:nvPr/>
        </p:nvSpPr>
        <p:spPr>
          <a:xfrm>
            <a:off x="658368" y="5266944"/>
            <a:ext cx="1187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9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deploy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2121408" y="5212080"/>
            <a:ext cx="94119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process serves the API and the page: nothing hardcoded.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D4D8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63882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audio to structured records.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58368" y="2194560"/>
            <a:ext cx="1867753" cy="1783080"/>
          </a:xfrm>
          <a:prstGeom prst="roundRect">
            <a:avLst>
              <a:gd name="adj" fmla="val 6154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  <a:effectLst>
            <a:outerShdw blurRad="177800" dist="50800" dir="5400000" algn="bl" rotWithShape="0">
              <a:srgbClr val="12153A">
                <a:alpha val="16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877824" y="23591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2798064"/>
            <a:ext cx="14562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/ video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77824" y="3163824"/>
            <a:ext cx="15019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.mp4 .mp3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.wav .m4a</a:t>
            </a:r>
            <a:endParaRPr lang="en-US" sz="10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9273" y="2967228"/>
            <a:ext cx="237744" cy="2377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910169" y="2194560"/>
            <a:ext cx="1867753" cy="1783080"/>
          </a:xfrm>
          <a:prstGeom prst="roundRect">
            <a:avLst>
              <a:gd name="adj" fmla="val 6154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  <a:effectLst>
            <a:outerShdw blurRad="177800" dist="50800" dir="5400000" algn="bl" rotWithShape="0">
              <a:srgbClr val="12153A">
                <a:alpha val="16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3" name="Text 10"/>
          <p:cNvSpPr/>
          <p:nvPr/>
        </p:nvSpPr>
        <p:spPr>
          <a:xfrm>
            <a:off x="3129625" y="23591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129625" y="2798064"/>
            <a:ext cx="14562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Whisper ASR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3129625" y="3163824"/>
            <a:ext cx="15019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base.en · int8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CPU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075" y="2967228"/>
            <a:ext cx="237744" cy="23774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161971" y="2194560"/>
            <a:ext cx="1867753" cy="1783080"/>
          </a:xfrm>
          <a:prstGeom prst="roundRect">
            <a:avLst>
              <a:gd name="adj" fmla="val 6154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  <a:effectLst>
            <a:outerShdw blurRad="177800" dist="50800" dir="5400000" algn="bl" rotWithShape="0">
              <a:srgbClr val="12153A">
                <a:alpha val="16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8" name="Text 14"/>
          <p:cNvSpPr/>
          <p:nvPr/>
        </p:nvSpPr>
        <p:spPr>
          <a:xfrm>
            <a:off x="5381427" y="23591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5381427" y="2798064"/>
            <a:ext cx="14562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Transcript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5381427" y="3163824"/>
            <a:ext cx="15019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 text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300K chars</a:t>
            </a:r>
            <a:endParaRPr lang="en-US" sz="10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876" y="2967228"/>
            <a:ext cx="237744" cy="23774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413772" y="2194560"/>
            <a:ext cx="1867753" cy="1783080"/>
          </a:xfrm>
          <a:prstGeom prst="roundRect">
            <a:avLst>
              <a:gd name="adj" fmla="val 6154"/>
            </a:avLst>
          </a:prstGeom>
          <a:solidFill>
            <a:srgbClr val="2A2E60"/>
          </a:solidFill>
          <a:ln w="17780">
            <a:solidFill>
              <a:srgbClr val="8A97F2"/>
            </a:solidFill>
            <a:prstDash val="solid"/>
          </a:ln>
          <a:effectLst>
            <a:outerShdw blurRad="177800" dist="50800" dir="5400000" algn="bl" rotWithShape="0">
              <a:srgbClr val="12153A">
                <a:alpha val="16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3" name="Text 18"/>
          <p:cNvSpPr/>
          <p:nvPr/>
        </p:nvSpPr>
        <p:spPr>
          <a:xfrm>
            <a:off x="7633228" y="23591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9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7633228" y="2798064"/>
            <a:ext cx="14562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Haiku</a:t>
            </a:r>
            <a:endParaRPr lang="en-US" sz="1550" dirty="0"/>
          </a:p>
        </p:txBody>
      </p:sp>
      <p:sp>
        <p:nvSpPr>
          <p:cNvPr id="25" name="Text 20"/>
          <p:cNvSpPr/>
          <p:nvPr/>
        </p:nvSpPr>
        <p:spPr>
          <a:xfrm>
            <a:off x="7633228" y="3163824"/>
            <a:ext cx="15019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schema</a:t>
            </a:r>
            <a:endParaRPr lang="en-US" sz="10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678" y="2967228"/>
            <a:ext cx="237744" cy="237744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9665574" y="2194560"/>
            <a:ext cx="1867753" cy="1783080"/>
          </a:xfrm>
          <a:prstGeom prst="roundRect">
            <a:avLst>
              <a:gd name="adj" fmla="val 6154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  <a:effectLst>
            <a:outerShdw blurRad="177800" dist="50800" dir="5400000" algn="bl" rotWithShape="0">
              <a:srgbClr val="12153A">
                <a:alpha val="16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8" name="Text 22"/>
          <p:cNvSpPr/>
          <p:nvPr/>
        </p:nvSpPr>
        <p:spPr>
          <a:xfrm>
            <a:off x="9885030" y="23591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9885030" y="2798064"/>
            <a:ext cx="14562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fields</a:t>
            </a:r>
            <a:endParaRPr lang="en-US" sz="1550" dirty="0"/>
          </a:p>
        </p:txBody>
      </p:sp>
      <p:sp>
        <p:nvSpPr>
          <p:cNvPr id="30" name="Text 24"/>
          <p:cNvSpPr/>
          <p:nvPr/>
        </p:nvSpPr>
        <p:spPr>
          <a:xfrm>
            <a:off x="9885030" y="3163824"/>
            <a:ext cx="150199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· takeaways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items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58368" y="4370832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2" name="Text 26"/>
          <p:cNvSpPr/>
          <p:nvPr/>
        </p:nvSpPr>
        <p:spPr>
          <a:xfrm>
            <a:off x="658368" y="44805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 </a:t>
            </a:r>
            <a:r>
              <a:rPr lang="en-US" sz="125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silence removal · int8 quantization · multithread decode.   </a:t>
            </a:r>
            <a:r>
              <a:rPr lang="en-US" sz="1250" b="1" dirty="0">
                <a:solidFill>
                  <a:srgbClr val="8A9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Bypass:  </a:t>
            </a:r>
            <a:r>
              <a:rPr lang="en-US" sz="125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 transcript (.txt .md .vtt .srt) skips the ASR stage entirely.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658368" y="504748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E98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can be huge, so the schema-constrained Haiku call does the structuring —&gt; not a brittle regex pass.</a:t>
            </a:r>
            <a:endParaRPr lang="en-US" sz="1350" dirty="0"/>
          </a:p>
        </p:txBody>
      </p:sp>
      <p:sp>
        <p:nvSpPr>
          <p:cNvPr id="34" name="Text 28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8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engineering: structure, not hope.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58368" y="187452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16183A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932688" y="203911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D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summarisation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2688" y="2386584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8FE9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at most 2 sentences
</a:t>
            </a:r>
            <a:r>
              <a:rPr lang="en-US" sz="1100" dirty="0">
                <a:solidFill>
                  <a:srgbClr val="8FE9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key_takeaways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comprehensive, tagged
                  </a:t>
            </a:r>
            <a:r>
              <a:rPr lang="en-US" sz="1100" dirty="0">
                <a:solidFill>
                  <a:srgbClr val="33D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</a:t>
            </a:r>
            <a:r>
              <a:rPr lang="en-US" sz="1100" dirty="0">
                <a:solidFill>
                  <a:srgbClr val="8A97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</a:t>
            </a:r>
            <a:r>
              <a:rPr lang="en-US" sz="1100" dirty="0">
                <a:solidFill>
                  <a:srgbClr val="E8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100" dirty="0">
                <a:solidFill>
                  <a:srgbClr val="8FE9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action_items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owner + deadline
                 only if stated · </a:t>
            </a:r>
            <a:r>
              <a:rPr lang="en-US" sz="1100" dirty="0">
                <a:solidFill>
                  <a:srgbClr val="E2A0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invent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27648" y="187452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16183A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6601968" y="203911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7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 prompt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01968" y="2386584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</a:t>
            </a:r>
            <a:r>
              <a:rPr lang="en-US" sz="1100" dirty="0">
                <a:solidFill>
                  <a:srgbClr val="E2A0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the provided &lt;context&gt;
</a:t>
            </a:r>
            <a:r>
              <a:rPr lang="en-US" sz="1100" dirty="0">
                <a:solidFill>
                  <a:srgbClr val="8FE9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the meeting title(s) used
if not in context → say </a:t>
            </a:r>
            <a:r>
              <a:rPr lang="en-US" sz="1100" dirty="0">
                <a:solidFill>
                  <a:srgbClr val="33D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“not found”</a:t>
            </a:r>
            <a:r>
              <a:rPr lang="en-US" sz="1100" dirty="0">
                <a:solidFill>
                  <a:srgbClr val="E8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1100" dirty="0">
                <a:solidFill>
                  <a:srgbClr val="E2A0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guess</a:t>
            </a:r>
            <a:r>
              <a:rPr lang="en-US" sz="1100" dirty="0">
                <a:solidFill>
                  <a:srgbClr val="C7CE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or hallucinate facts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416552"/>
            <a:ext cx="10874959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4" name="Shape 12"/>
          <p:cNvSpPr/>
          <p:nvPr/>
        </p:nvSpPr>
        <p:spPr>
          <a:xfrm>
            <a:off x="658368" y="4572000"/>
            <a:ext cx="1187806" cy="274320"/>
          </a:xfrm>
          <a:prstGeom prst="roundRect">
            <a:avLst>
              <a:gd name="adj" fmla="val 20000"/>
            </a:avLst>
          </a:prstGeom>
          <a:solidFill>
            <a:srgbClr val="E2E4F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187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556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schema-locked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12848" y="4526280"/>
            <a:ext cx="9320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constrained to a JSON shape at the API level, so it always parses.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084064"/>
            <a:ext cx="1111910" cy="274320"/>
          </a:xfrm>
          <a:prstGeom prst="roundRect">
            <a:avLst>
              <a:gd name="adj" fmla="val 20000"/>
            </a:avLst>
          </a:prstGeom>
          <a:solidFill>
            <a:srgbClr val="E2E4F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658368" y="5084064"/>
            <a:ext cx="11119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556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&gt; guess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12848" y="5038344"/>
            <a:ext cx="9320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/ deadline stay null when unstated -&gt; we never misattribute a task.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596128"/>
            <a:ext cx="884225" cy="274320"/>
          </a:xfrm>
          <a:prstGeom prst="roundRect">
            <a:avLst>
              <a:gd name="adj" fmla="val 20000"/>
            </a:avLst>
          </a:prstGeom>
          <a:solidFill>
            <a:srgbClr val="E2E4F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1" name="Text 19"/>
          <p:cNvSpPr/>
          <p:nvPr/>
        </p:nvSpPr>
        <p:spPr>
          <a:xfrm>
            <a:off x="658368" y="5596128"/>
            <a:ext cx="8842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556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4.5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12848" y="5550408"/>
            <a:ext cx="93204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is the bottleneck, not </a:t>
            </a:r>
            <a:r>
              <a:rPr lang="en-US" sz="1250" dirty="0" err="1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summarising</a:t>
            </a: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a bigger model adds cost, not value.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AB2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352093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8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optimised the slow part.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C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transcription time · same 20-min 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24128" y="2468880"/>
            <a:ext cx="1371600" cy="2651760"/>
          </a:xfrm>
          <a:prstGeom prst="roundRect">
            <a:avLst>
              <a:gd name="adj" fmla="val 4000"/>
            </a:avLst>
          </a:prstGeom>
          <a:solidFill>
            <a:srgbClr val="C9CEE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1024128" y="20848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C9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470s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24128" y="5193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4C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52928" y="4375890"/>
            <a:ext cx="1371600" cy="744750"/>
          </a:xfrm>
          <a:prstGeom prst="roundRect">
            <a:avLst>
              <a:gd name="adj" fmla="val 7367"/>
            </a:avLst>
          </a:prstGeom>
          <a:solidFill>
            <a:srgbClr val="33D6B6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2852928" y="399184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9C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52928" y="5193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E9C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optimised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98848" y="2468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544568" y="3429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4C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accuracy loss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4C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36,620 vs 36,702 chars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242048" y="178308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levers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242048" y="2286000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base.en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242048" y="2560320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 model -&gt; faster and more accurate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42048" y="2962656"/>
            <a:ext cx="4291279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7242048" y="3072384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beam_size=1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42048" y="3346704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decoding -&gt; ~2× faster, near-zero quality loss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42048" y="3749040"/>
            <a:ext cx="4291279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Text 21"/>
          <p:cNvSpPr/>
          <p:nvPr/>
        </p:nvSpPr>
        <p:spPr>
          <a:xfrm>
            <a:off x="7242048" y="3858768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cpu_threads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42048" y="4133088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all cores vs the library default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4535424"/>
            <a:ext cx="4291279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6" name="Text 24"/>
          <p:cNvSpPr/>
          <p:nvPr/>
        </p:nvSpPr>
        <p:spPr>
          <a:xfrm>
            <a:off x="7242048" y="4645152"/>
            <a:ext cx="4291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language='en'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242048" y="4919472"/>
            <a:ext cx="4291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auto-detection -&gt; one less pass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4C9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end: 3.5× faster on a 20-min file (7:50 → 2:12).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D8DC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15303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across the whole archive.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D6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92808" y="2057400"/>
            <a:ext cx="24688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2075688" y="2148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text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75688" y="242316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flattened record</a:t>
            </a:r>
            <a:endParaRPr lang="en-US" sz="9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267712"/>
            <a:ext cx="219456" cy="21945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681728" y="2057400"/>
            <a:ext cx="24688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0"/>
          <p:cNvSpPr/>
          <p:nvPr/>
        </p:nvSpPr>
        <p:spPr>
          <a:xfrm>
            <a:off x="4864608" y="2148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864608" y="242316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retrieval_document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267712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7470648" y="2057400"/>
            <a:ext cx="24688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3"/>
          <p:cNvSpPr/>
          <p:nvPr/>
        </p:nvSpPr>
        <p:spPr>
          <a:xfrm>
            <a:off x="7653528" y="21488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653528" y="242316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vector(1536)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58368" y="32735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7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ask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1892808" y="3108960"/>
            <a:ext cx="22402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Text 17"/>
          <p:cNvSpPr/>
          <p:nvPr/>
        </p:nvSpPr>
        <p:spPr>
          <a:xfrm>
            <a:off x="2057400" y="32004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2057400" y="347472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natural language</a:t>
            </a:r>
            <a:endParaRPr lang="en-US" sz="8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376" y="3319272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4389120" y="3108960"/>
            <a:ext cx="22402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/>
          <p:nvPr/>
        </p:nvSpPr>
        <p:spPr>
          <a:xfrm>
            <a:off x="4553712" y="32004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553712" y="347472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retrieval_query</a:t>
            </a:r>
            <a:endParaRPr lang="en-US" sz="8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3319272"/>
            <a:ext cx="219456" cy="219456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6885432" y="3108960"/>
            <a:ext cx="2240280" cy="640080"/>
          </a:xfrm>
          <a:prstGeom prst="roundRect">
            <a:avLst>
              <a:gd name="adj" fmla="val 12857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9" name="Text 23"/>
          <p:cNvSpPr/>
          <p:nvPr/>
        </p:nvSpPr>
        <p:spPr>
          <a:xfrm>
            <a:off x="7050024" y="32004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top-3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7050024" y="347472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HNSW · &lt;=&gt;</a:t>
            </a:r>
            <a:endParaRPr lang="en-US" sz="8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319272"/>
            <a:ext cx="219456" cy="219456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381744" y="3108960"/>
            <a:ext cx="2240280" cy="640080"/>
          </a:xfrm>
          <a:prstGeom prst="roundRect">
            <a:avLst>
              <a:gd name="adj" fmla="val 12857"/>
            </a:avLst>
          </a:prstGeom>
          <a:solidFill>
            <a:srgbClr val="2A2E60"/>
          </a:solidFill>
          <a:ln w="16510">
            <a:solidFill>
              <a:srgbClr val="33D6B6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3" name="Text 26"/>
          <p:cNvSpPr/>
          <p:nvPr/>
        </p:nvSpPr>
        <p:spPr>
          <a:xfrm>
            <a:off x="9546336" y="3200400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grounds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9546336" y="3474720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7C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cited answer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658368" y="4160520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6" name="Text 29"/>
          <p:cNvSpPr/>
          <p:nvPr/>
        </p:nvSpPr>
        <p:spPr>
          <a:xfrm>
            <a:off x="658368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E9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answers carry source chips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658368" y="4608576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20284F"/>
          </a:solidFill>
          <a:ln w="12700">
            <a:solidFill>
              <a:srgbClr val="8A97F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8" name="Text 31"/>
          <p:cNvSpPr/>
          <p:nvPr/>
        </p:nvSpPr>
        <p:spPr>
          <a:xfrm>
            <a:off x="859536" y="46085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sync</a:t>
            </a:r>
            <a:r>
              <a:rPr lang="en-US" sz="11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Mar 14  ·  </a:t>
            </a:r>
            <a:r>
              <a:rPr lang="en-US" sz="1100" b="1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</a:t>
            </a:r>
            <a:r>
              <a:rPr lang="en-US" sz="11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similarity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5230368" y="4526280"/>
            <a:ext cx="6302959" cy="1371600"/>
          </a:xfrm>
          <a:prstGeom prst="roundRect">
            <a:avLst>
              <a:gd name="adj" fmla="val 8000"/>
            </a:avLst>
          </a:prstGeom>
          <a:solidFill>
            <a:srgbClr val="212452"/>
          </a:solidFill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0" name="Text 33"/>
          <p:cNvSpPr/>
          <p:nvPr/>
        </p:nvSpPr>
        <p:spPr>
          <a:xfrm>
            <a:off x="5504688" y="4526280"/>
            <a:ext cx="57543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fine-tuning.  </a:t>
            </a:r>
            <a:r>
              <a:rPr lang="en-US" sz="13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labelled dataset to fine-tune on; embeddings update the instant a meeting is saved, and running a vector search is far cheaper than retraining.</a:t>
            </a:r>
            <a:endParaRPr lang="en-US" sz="1300" dirty="0"/>
          </a:p>
        </p:txBody>
      </p:sp>
      <p:sp>
        <p:nvSpPr>
          <p:cNvPr id="41" name="Text 34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8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 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tool-using agent.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1867753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786384" y="2112264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>
              <a:solidFill>
                <a:schemeClr val="tx2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86384" y="2478024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endParaRPr lang="en-US" sz="900" dirty="0">
              <a:solidFill>
                <a:schemeClr val="tx2"/>
              </a:solidFill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417" y="2290572"/>
            <a:ext cx="219456" cy="21945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910169" y="1965960"/>
            <a:ext cx="1867753" cy="868680"/>
          </a:xfrm>
          <a:prstGeom prst="roundRect">
            <a:avLst>
              <a:gd name="adj" fmla="val 10526"/>
            </a:avLst>
          </a:prstGeom>
          <a:solidFill>
            <a:srgbClr val="5560E0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2" name="Text 9"/>
          <p:cNvSpPr/>
          <p:nvPr/>
        </p:nvSpPr>
        <p:spPr>
          <a:xfrm>
            <a:off x="3038185" y="2112264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+ 5 tools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038185" y="2478024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7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decide</a:t>
            </a:r>
            <a:endParaRPr lang="en-US" sz="9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219" y="2290572"/>
            <a:ext cx="219456" cy="21945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61971" y="1965960"/>
            <a:ext cx="1867753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6" name="Text 12"/>
          <p:cNvSpPr/>
          <p:nvPr/>
        </p:nvSpPr>
        <p:spPr>
          <a:xfrm>
            <a:off x="5289987" y="2112264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tool</a:t>
            </a:r>
            <a:endParaRPr lang="en-US" sz="1250" dirty="0">
              <a:solidFill>
                <a:schemeClr val="tx2"/>
              </a:solidFill>
            </a:endParaRPr>
          </a:p>
        </p:txBody>
      </p:sp>
      <p:sp>
        <p:nvSpPr>
          <p:cNvPr id="17" name="Text 13"/>
          <p:cNvSpPr/>
          <p:nvPr/>
        </p:nvSpPr>
        <p:spPr>
          <a:xfrm>
            <a:off x="5289987" y="2478024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900" dirty="0">
              <a:solidFill>
                <a:schemeClr val="tx2"/>
              </a:solidFill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20" y="2290572"/>
            <a:ext cx="219456" cy="21945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13772" y="1965960"/>
            <a:ext cx="1867753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0" name="Text 15"/>
          <p:cNvSpPr/>
          <p:nvPr/>
        </p:nvSpPr>
        <p:spPr>
          <a:xfrm>
            <a:off x="7541788" y="2112264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result back</a:t>
            </a:r>
            <a:endParaRPr lang="en-US" sz="1250" dirty="0">
              <a:solidFill>
                <a:schemeClr val="tx2"/>
              </a:solidFill>
            </a:endParaRPr>
          </a:p>
        </p:txBody>
      </p:sp>
      <p:sp>
        <p:nvSpPr>
          <p:cNvPr id="21" name="Text 16"/>
          <p:cNvSpPr/>
          <p:nvPr/>
        </p:nvSpPr>
        <p:spPr>
          <a:xfrm>
            <a:off x="7541788" y="2478024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5 rounds</a:t>
            </a:r>
            <a:endParaRPr lang="en-US" sz="900" dirty="0">
              <a:solidFill>
                <a:schemeClr val="tx2"/>
              </a:solidFill>
            </a:endParaRPr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822" y="229057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665574" y="1965960"/>
            <a:ext cx="1867753" cy="868680"/>
          </a:xfrm>
          <a:prstGeom prst="roundRect">
            <a:avLst>
              <a:gd name="adj" fmla="val 10526"/>
            </a:avLst>
          </a:prstGeom>
          <a:solidFill>
            <a:srgbClr val="0E9C82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4" name="Text 18"/>
          <p:cNvSpPr/>
          <p:nvPr/>
        </p:nvSpPr>
        <p:spPr>
          <a:xfrm>
            <a:off x="9793590" y="2112264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793590" y="2478024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7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trace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58368" y="294436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4C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loops back  ↺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58368" y="35204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fixed toolbox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658368" y="3977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search_meetings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3858768" y="3977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RAG over the archive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658368" y="4306824"/>
            <a:ext cx="58521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1" name="Text 25"/>
          <p:cNvSpPr/>
          <p:nvPr/>
        </p:nvSpPr>
        <p:spPr>
          <a:xfrm>
            <a:off x="658368" y="4398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get_meeting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3858768" y="4398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one full saved record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658368" y="4727448"/>
            <a:ext cx="58521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4" name="Text 28"/>
          <p:cNvSpPr/>
          <p:nvPr/>
        </p:nvSpPr>
        <p:spPr>
          <a:xfrm>
            <a:off x="658368" y="48188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list_action_items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3858768" y="4818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project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58368" y="5148072"/>
            <a:ext cx="58521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7" name="Text 31"/>
          <p:cNvSpPr/>
          <p:nvPr/>
        </p:nvSpPr>
        <p:spPr>
          <a:xfrm>
            <a:off x="658368" y="5239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find_overdue_action_items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858768" y="52395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ISO dates only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58368" y="5568696"/>
            <a:ext cx="58521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0" name="Text 34"/>
          <p:cNvSpPr/>
          <p:nvPr/>
        </p:nvSpPr>
        <p:spPr>
          <a:xfrm>
            <a:off x="658368" y="56601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6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draft_followup</a:t>
            </a:r>
            <a:endParaRPr lang="en-US" sz="1150" dirty="0"/>
          </a:p>
        </p:txBody>
      </p:sp>
      <p:sp>
        <p:nvSpPr>
          <p:cNvPr id="41" name="Text 35"/>
          <p:cNvSpPr/>
          <p:nvPr/>
        </p:nvSpPr>
        <p:spPr>
          <a:xfrm>
            <a:off x="3858768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recap / reminder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658368" y="5989320"/>
            <a:ext cx="58521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3" name="Shape 37"/>
          <p:cNvSpPr/>
          <p:nvPr/>
        </p:nvSpPr>
        <p:spPr>
          <a:xfrm>
            <a:off x="6967728" y="3611880"/>
            <a:ext cx="4565599" cy="2331720"/>
          </a:xfrm>
          <a:prstGeom prst="roundRect">
            <a:avLst>
              <a:gd name="adj" fmla="val 4706"/>
            </a:avLst>
          </a:prstGeom>
          <a:solidFill>
            <a:srgbClr val="1B1E47"/>
          </a:solidFill>
          <a:ln/>
          <a:effectLst>
            <a:outerShdw blurRad="152400" dist="38100" dir="5400000" algn="bl" rotWithShape="0">
              <a:srgbClr val="9AA2C8">
                <a:alpha val="1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4" name="Text 38"/>
          <p:cNvSpPr/>
          <p:nvPr/>
        </p:nvSpPr>
        <p:spPr>
          <a:xfrm>
            <a:off x="7242048" y="3886200"/>
            <a:ext cx="4016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“One agent, one loop, a fixed toolbox, a step cap.”</a:t>
            </a:r>
            <a:endParaRPr lang="en-US" sz="1800" dirty="0"/>
          </a:p>
        </p:txBody>
      </p:sp>
      <p:sp>
        <p:nvSpPr>
          <p:cNvPr id="45" name="Text 39"/>
          <p:cNvSpPr/>
          <p:nvPr/>
        </p:nvSpPr>
        <p:spPr>
          <a:xfrm>
            <a:off x="7242048" y="4892040"/>
            <a:ext cx="4016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adds coordination overhead and hand-off failures that are hard to defend live. Every capability we need is a tool the one agent calls.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AB2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455448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Guardrails: anti-loop, anti-hallucination.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58368" y="2006600"/>
            <a:ext cx="1643177" cy="274320"/>
          </a:xfrm>
          <a:prstGeom prst="roundRect">
            <a:avLst>
              <a:gd name="adj" fmla="val 20000"/>
            </a:avLst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Text 6"/>
          <p:cNvSpPr/>
          <p:nvPr/>
        </p:nvSpPr>
        <p:spPr>
          <a:xfrm>
            <a:off x="658368" y="2006600"/>
            <a:ext cx="16431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MAX_AGENT_STEPS = 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38728" y="1778000"/>
            <a:ext cx="799459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8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step cap. If no grounded answer in 5 rounds, it returns a clear “couldn't reach an answer” —&gt; never an infinite loop.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2921000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Shape 9"/>
          <p:cNvSpPr/>
          <p:nvPr/>
        </p:nvSpPr>
        <p:spPr>
          <a:xfrm>
            <a:off x="658368" y="3149600"/>
            <a:ext cx="1339596" cy="274320"/>
          </a:xfrm>
          <a:prstGeom prst="roundRect">
            <a:avLst>
              <a:gd name="adj" fmla="val 20000"/>
            </a:avLst>
          </a:prstGeom>
          <a:solidFill>
            <a:srgbClr val="8A97F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658368" y="3149600"/>
            <a:ext cx="1339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tools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38728" y="2921000"/>
            <a:ext cx="799459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8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reads; draft_followup is one bounded generation. Nothing is sent, deleted, or modified —&gt; all reversible.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8368" y="4064000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658368" y="4292600"/>
            <a:ext cx="1339596" cy="274320"/>
          </a:xfrm>
          <a:prstGeom prst="roundRect">
            <a:avLst>
              <a:gd name="adj" fmla="val 20000"/>
            </a:avLst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58368" y="4292600"/>
            <a:ext cx="13395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prompt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38728" y="4064000"/>
            <a:ext cx="799459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8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a tool result; the agent says “not found” rather than guess. Checked by an adversarial eval.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5207000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Shape 17"/>
          <p:cNvSpPr/>
          <p:nvPr/>
        </p:nvSpPr>
        <p:spPr>
          <a:xfrm>
            <a:off x="658368" y="5435600"/>
            <a:ext cx="1263701" cy="274320"/>
          </a:xfrm>
          <a:prstGeom prst="roundRect">
            <a:avLst>
              <a:gd name="adj" fmla="val 20000"/>
            </a:avLst>
          </a:prstGeom>
          <a:solidFill>
            <a:srgbClr val="E2A03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658368" y="5435600"/>
            <a:ext cx="1263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dates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38728" y="5207000"/>
            <a:ext cx="799459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8D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find_overdue flags only real, parseable dates. “next meeting” is skipped, not fabricated into a deadline.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8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0159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1"/>
          <p:cNvSpPr>
            <a:spLocks noChangeArrowheads="1"/>
          </p:cNvSpPr>
          <p:nvPr/>
        </p:nvSpPr>
        <p:spPr>
          <a:xfrm>
            <a:off x="2730500" y="63500"/>
            <a:ext cx="6731000" cy="6731000"/>
          </a:xfrm>
          <a:prstGeom prst="ellipse">
            <a:avLst/>
          </a:prstGeom>
          <a:solidFill>
            <a:srgbClr val="1D24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R2"/>
          <p:cNvSpPr>
            <a:spLocks noChangeArrowheads="1"/>
          </p:cNvSpPr>
          <p:nvPr/>
        </p:nvSpPr>
        <p:spPr>
          <a:xfrm>
            <a:off x="3937000" y="1270000"/>
            <a:ext cx="4318000" cy="4318000"/>
          </a:xfrm>
          <a:prstGeom prst="ellipse">
            <a:avLst/>
          </a:prstGeom>
          <a:solidFill>
            <a:srgbClr val="2230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3"/>
          <p:cNvSpPr>
            <a:spLocks noChangeArrowheads="1"/>
          </p:cNvSpPr>
          <p:nvPr/>
        </p:nvSpPr>
        <p:spPr>
          <a:xfrm>
            <a:off x="5080000" y="2413000"/>
            <a:ext cx="2032000" cy="2032000"/>
          </a:xfrm>
          <a:prstGeom prst="ellipse">
            <a:avLst/>
          </a:prstGeom>
          <a:solidFill>
            <a:srgbClr val="1B7A8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4"/>
          <p:cNvSpPr>
            <a:spLocks noChangeArrowheads="1"/>
          </p:cNvSpPr>
          <p:nvPr/>
        </p:nvSpPr>
        <p:spPr>
          <a:xfrm>
            <a:off x="3302000" y="635000"/>
            <a:ext cx="5588000" cy="5588000"/>
          </a:xfrm>
          <a:prstGeom prst="ellipse">
            <a:avLst/>
          </a:prstGeom>
          <a:noFill/>
          <a:ln w="19050">
            <a:solidFill>
              <a:srgbClr val="29A8B0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600" y="2712800"/>
            <a:ext cx="812800" cy="812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921000" y="3454400"/>
            <a:ext cx="635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5400" dirty="0"/>
          </a:p>
        </p:txBody>
      </p:sp>
      <p:sp>
        <p:nvSpPr>
          <p:cNvPr id="104" name="Accent"/>
          <p:cNvSpPr>
            <a:spLocks noChangeArrowheads="1"/>
          </p:cNvSpPr>
          <p:nvPr/>
        </p:nvSpPr>
        <p:spPr>
          <a:xfrm>
            <a:off x="4826000" y="4495800"/>
            <a:ext cx="2540000" cy="50800"/>
          </a:xfrm>
          <a:prstGeom prst="rect">
            <a:avLst/>
          </a:prstGeom>
          <a:solidFill>
            <a:srgbClr val="29A8B0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0315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33D6B6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 — EVALUATION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with an LLM judge.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-&gt; LLM-as-judge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3042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reference exists for open Q&amp;A, so Claude scores each answer against the agent's own tool-call trace —&gt; the ground truth it actually had. RAGAS-style.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429000"/>
            <a:ext cx="4937760" cy="0"/>
          </a:xfrm>
          <a:prstGeom prst="line">
            <a:avLst/>
          </a:prstGeom>
          <a:noFill/>
          <a:ln w="12700">
            <a:solidFill>
              <a:srgbClr val="E0E3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0" name="Text 8"/>
          <p:cNvSpPr/>
          <p:nvPr/>
        </p:nvSpPr>
        <p:spPr>
          <a:xfrm>
            <a:off x="658368" y="3584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Summariser</a:t>
            </a:r>
            <a:r>
              <a:rPr lang="en-US" sz="16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-&gt; vs humans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396849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meetings from the AMI corpus, scored against professional human summaries —&gt; avoiding the circularity of grading an LLM on answers we wrote.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029200"/>
            <a:ext cx="4937760" cy="960120"/>
          </a:xfrm>
          <a:prstGeom prst="roundRect">
            <a:avLst>
              <a:gd name="adj" fmla="val 9524"/>
            </a:avLst>
          </a:prstGeom>
          <a:solidFill>
            <a:srgbClr val="ECEEF8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932688" y="50292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Summariser quality:  </a:t>
            </a:r>
            <a:r>
              <a:rPr lang="en-US" sz="1200" dirty="0">
                <a:solidFill>
                  <a:srgbClr val="17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 0.335 · action-item recall 42% (28/66), zero-shot from raw audio.</a:t>
            </a:r>
            <a:endParaRPr lang="en-US" sz="1200" dirty="0">
              <a:solidFill>
                <a:schemeClr val="tx2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36208" y="1920240"/>
            <a:ext cx="52971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results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36208" y="2286000"/>
            <a:ext cx="246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E9C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6263640" y="3035808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63640" y="3273552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the trace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067648" y="2286000"/>
            <a:ext cx="246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5560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9095080" y="3035808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095080" y="3273552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the question asked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36208" y="3931920"/>
            <a:ext cx="246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4.5s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6263640" y="4681728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latency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63640" y="4919472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question, end to end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067648" y="3931920"/>
            <a:ext cx="246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8E9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25" name="Text 23"/>
          <p:cNvSpPr/>
          <p:nvPr/>
        </p:nvSpPr>
        <p:spPr>
          <a:xfrm>
            <a:off x="9095080" y="4681728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step cap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095080" y="4919472"/>
            <a:ext cx="246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4C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runaway loops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36208" y="5212080"/>
            <a:ext cx="5297119" cy="566928"/>
          </a:xfrm>
          <a:prstGeom prst="roundRect">
            <a:avLst>
              <a:gd name="adj" fmla="val 16129"/>
            </a:avLst>
          </a:prstGeom>
          <a:solidFill>
            <a:srgbClr val="E0F5EF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5358384"/>
            <a:ext cx="274320" cy="27432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876288" y="5212080"/>
            <a:ext cx="44741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7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test passed:  </a:t>
            </a:r>
            <a:r>
              <a:rPr lang="en-US" sz="1150" dirty="0">
                <a:solidFill>
                  <a:srgbClr val="17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declined an ungrounded question instead of hallucinating.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AB2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2926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200"/>
          <p:cNvSpPr>
            <a:spLocks noChangeArrowheads="1"/>
          </p:cNvSpPr>
          <p:nvPr/>
        </p:nvSpPr>
        <p:spPr>
          <a:xfrm>
            <a:off x="7251700" y="63500"/>
            <a:ext cx="4749800" cy="4749800"/>
          </a:xfrm>
          <a:prstGeom prst="ellipse">
            <a:avLst/>
          </a:prstGeom>
          <a:solidFill>
            <a:srgbClr val="1E22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Deco201"/>
          <p:cNvSpPr>
            <a:spLocks noChangeArrowheads="1"/>
          </p:cNvSpPr>
          <p:nvPr/>
        </p:nvSpPr>
        <p:spPr>
          <a:xfrm>
            <a:off x="8890000" y="63500"/>
            <a:ext cx="3111500" cy="3111500"/>
          </a:xfrm>
          <a:prstGeom prst="ellipse">
            <a:avLst/>
          </a:prstGeom>
          <a:solidFill>
            <a:srgbClr val="252B5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eco202"/>
          <p:cNvSpPr>
            <a:spLocks noChangeArrowheads="1"/>
          </p:cNvSpPr>
          <p:nvPr/>
        </p:nvSpPr>
        <p:spPr>
          <a:xfrm>
            <a:off x="10261600" y="317500"/>
            <a:ext cx="1739900" cy="1739900"/>
          </a:xfrm>
          <a:prstGeom prst="ellipse">
            <a:avLst/>
          </a:prstGeom>
          <a:solidFill>
            <a:srgbClr val="1C6E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Shape 0"/>
          <p:cNvSpPr/>
          <p:nvPr/>
        </p:nvSpPr>
        <p:spPr>
          <a:xfrm>
            <a:off x="658368" y="507492"/>
            <a:ext cx="109728" cy="109728"/>
          </a:xfrm>
          <a:prstGeom prst="ellipse">
            <a:avLst/>
          </a:prstGeom>
          <a:solidFill>
            <a:srgbClr val="E2A03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Text 1"/>
          <p:cNvSpPr/>
          <p:nvPr/>
        </p:nvSpPr>
        <p:spPr>
          <a:xfrm>
            <a:off x="877824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A0A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30936" y="749808"/>
            <a:ext cx="8961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can't do yet and what's next.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8368" y="18092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2250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7552" y="215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speaker labels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87552" y="24257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ownership → owner left null (the #1 gap)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58368" y="3073400"/>
            <a:ext cx="5212080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36900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7552" y="307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Misheard names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87552" y="33401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Whisper: “Bojana”→“Janna” → wrong attribution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58368" y="3987800"/>
            <a:ext cx="5212080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5130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7552" y="3987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speech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87552" y="42545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crosstalk garbles sentences, hurts quality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58368" y="4902200"/>
            <a:ext cx="5212080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965700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87552" y="4902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audio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987552" y="51689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tuned for English only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58368" y="5740400"/>
            <a:ext cx="5212080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18"/>
          <p:cNvSpPr/>
          <p:nvPr/>
        </p:nvSpPr>
        <p:spPr>
          <a:xfrm>
            <a:off x="6510528" y="1874520"/>
            <a:ext cx="5022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510528" y="2247900"/>
            <a:ext cx="660400" cy="274320"/>
          </a:xfrm>
          <a:prstGeom prst="roundRect">
            <a:avLst>
              <a:gd name="adj" fmla="val 20000"/>
            </a:avLst>
          </a:prstGeom>
          <a:solidFill>
            <a:srgbClr val="DCF3E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6" name="Text 20"/>
          <p:cNvSpPr/>
          <p:nvPr/>
        </p:nvSpPr>
        <p:spPr>
          <a:xfrm>
            <a:off x="6510528" y="2247900"/>
            <a:ext cx="660400" cy="274320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424928" y="2184400"/>
            <a:ext cx="4108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diarization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24928" y="2451100"/>
            <a:ext cx="4108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pyannote.audio between Whisper &amp; Claude —&gt; fixes #1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510528" y="3073400"/>
            <a:ext cx="5022799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0" name="Shape 24"/>
          <p:cNvSpPr/>
          <p:nvPr/>
        </p:nvSpPr>
        <p:spPr>
          <a:xfrm>
            <a:off x="6510528" y="3162300"/>
            <a:ext cx="660400" cy="274320"/>
          </a:xfrm>
          <a:prstGeom prst="roundRect">
            <a:avLst>
              <a:gd name="adj" fmla="val 20000"/>
            </a:avLst>
          </a:prstGeom>
          <a:solidFill>
            <a:srgbClr val="DCF3E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1" name="Text 25"/>
          <p:cNvSpPr/>
          <p:nvPr/>
        </p:nvSpPr>
        <p:spPr>
          <a:xfrm>
            <a:off x="6510528" y="3162300"/>
            <a:ext cx="660400" cy="274320"/>
          </a:xfrm>
          <a:prstGeom prst="rect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7424928" y="3098800"/>
            <a:ext cx="4108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Whisper model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7424928" y="3365500"/>
            <a:ext cx="4108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small.en / medium.en for accents &amp; noise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6510528" y="3987800"/>
            <a:ext cx="5022799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5" name="Shape 29"/>
          <p:cNvSpPr/>
          <p:nvPr/>
        </p:nvSpPr>
        <p:spPr>
          <a:xfrm>
            <a:off x="6510528" y="4076700"/>
            <a:ext cx="558800" cy="274320"/>
          </a:xfrm>
          <a:prstGeom prst="roundRect">
            <a:avLst>
              <a:gd name="adj" fmla="val 20000"/>
            </a:avLst>
          </a:prstGeom>
          <a:solidFill>
            <a:srgbClr val="E2E4F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6" name="Text 30"/>
          <p:cNvSpPr/>
          <p:nvPr/>
        </p:nvSpPr>
        <p:spPr>
          <a:xfrm>
            <a:off x="6510528" y="4076700"/>
            <a:ext cx="558800" cy="2743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7424928" y="4013200"/>
            <a:ext cx="4108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signals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7424928" y="4279900"/>
            <a:ext cx="4108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low-confidence items vs. equal certainty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6510528" y="4902200"/>
            <a:ext cx="5022799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0" name="Shape 34"/>
          <p:cNvSpPr/>
          <p:nvPr/>
        </p:nvSpPr>
        <p:spPr>
          <a:xfrm>
            <a:off x="6510528" y="4991100"/>
            <a:ext cx="558800" cy="274320"/>
          </a:xfrm>
          <a:prstGeom prst="roundRect">
            <a:avLst>
              <a:gd name="adj" fmla="val 20000"/>
            </a:avLst>
          </a:prstGeom>
          <a:solidFill>
            <a:srgbClr val="E7E9F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1" name="Text 35"/>
          <p:cNvSpPr/>
          <p:nvPr/>
        </p:nvSpPr>
        <p:spPr>
          <a:xfrm>
            <a:off x="6510528" y="4991100"/>
            <a:ext cx="558800" cy="274320"/>
          </a:xfrm>
          <a:prstGeom prst="rect">
            <a:avLst/>
          </a:prstGeom>
          <a:solidFill>
            <a:srgbClr val="C550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7424928" y="4927600"/>
            <a:ext cx="4108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deployment</a:t>
            </a:r>
            <a:endParaRPr lang="en-US" sz="1300" dirty="0"/>
          </a:p>
        </p:txBody>
      </p:sp>
      <p:sp>
        <p:nvSpPr>
          <p:cNvPr id="43" name="Text 37"/>
          <p:cNvSpPr/>
          <p:nvPr/>
        </p:nvSpPr>
        <p:spPr>
          <a:xfrm>
            <a:off x="7424928" y="5194300"/>
            <a:ext cx="41083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FastAPI on Render / Fly.io</a:t>
            </a:r>
            <a:endParaRPr lang="en-US" sz="1150" dirty="0"/>
          </a:p>
        </p:txBody>
      </p:sp>
      <p:sp>
        <p:nvSpPr>
          <p:cNvPr id="44" name="Shape 38"/>
          <p:cNvSpPr/>
          <p:nvPr/>
        </p:nvSpPr>
        <p:spPr>
          <a:xfrm>
            <a:off x="6510528" y="5740400"/>
            <a:ext cx="5022799" cy="0"/>
          </a:xfrm>
          <a:prstGeom prst="line">
            <a:avLst/>
          </a:prstGeom>
          <a:noFill/>
          <a:ln w="12700">
            <a:solidFill>
              <a:srgbClr val="2E3575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5" name="Text 39"/>
          <p:cNvSpPr/>
          <p:nvPr/>
        </p:nvSpPr>
        <p:spPr>
          <a:xfrm>
            <a:off x="658368" y="58674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4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Showing the limits —&gt;  and a costed path past them —&gt; is part of the technical maturity we want graded.</a:t>
            </a:r>
            <a:endParaRPr lang="en-US" sz="1300" dirty="0"/>
          </a:p>
        </p:txBody>
      </p:sp>
      <p:sp>
        <p:nvSpPr>
          <p:cNvPr id="46" name="Text 40"/>
          <p:cNvSpPr/>
          <p:nvPr/>
        </p:nvSpPr>
        <p:spPr>
          <a:xfrm>
            <a:off x="658368" y="6455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A0A8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SummarAI</a:t>
            </a:r>
            <a:endParaRPr lang="en-US" sz="1050" dirty="0"/>
          </a:p>
        </p:txBody>
      </p:sp>
      <p:sp>
        <p:nvSpPr>
          <p:cNvPr id="210" name="VDiv"/>
          <p:cNvSpPr>
            <a:spLocks noChangeArrowheads="1"/>
          </p:cNvSpPr>
          <p:nvPr/>
        </p:nvSpPr>
        <p:spPr>
          <a:xfrm>
            <a:off x="6184900" y="1879600"/>
            <a:ext cx="25400" cy="3911600"/>
          </a:xfrm>
          <a:prstGeom prst="rect">
            <a:avLst/>
          </a:prstGeom>
          <a:solidFill>
            <a:srgbClr val="29A8B0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7022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B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08415" y="-1188720"/>
            <a:ext cx="4754880" cy="4754880"/>
          </a:xfrm>
          <a:prstGeom prst="ellipse">
            <a:avLst/>
          </a:prstGeom>
          <a:solidFill>
            <a:srgbClr val="6A5CE0">
              <a:alpha val="1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9631375" y="-365760"/>
            <a:ext cx="3108960" cy="3108960"/>
          </a:xfrm>
          <a:prstGeom prst="ellipse">
            <a:avLst/>
          </a:prstGeom>
          <a:solidFill>
            <a:srgbClr val="8A97F2">
              <a:alpha val="20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" name="Shape 2"/>
          <p:cNvSpPr/>
          <p:nvPr/>
        </p:nvSpPr>
        <p:spPr>
          <a:xfrm>
            <a:off x="10317175" y="320040"/>
            <a:ext cx="1737360" cy="1737360"/>
          </a:xfrm>
          <a:prstGeom prst="ellipse">
            <a:avLst/>
          </a:prstGeom>
          <a:solidFill>
            <a:srgbClr val="33D6B6">
              <a:alpha val="14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658368" y="1147572"/>
            <a:ext cx="109728" cy="109728"/>
          </a:xfrm>
          <a:prstGeom prst="ellipse">
            <a:avLst/>
          </a:prstGeom>
          <a:solidFill>
            <a:srgbClr val="E2A03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877824" y="10972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A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30936" y="1417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payback is time.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58368" y="2540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33D6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85 hrs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704088" y="391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7C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per year, for a 5-person team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4495800"/>
            <a:ext cx="56692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E9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min/person/week hunting old notes  =  ~1.6 hrs/week  →  answered in &lt; 5 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93408" y="2070100"/>
            <a:ext cx="884225" cy="274320"/>
          </a:xfrm>
          <a:prstGeom prst="roundRect">
            <a:avLst>
              <a:gd name="adj" fmla="val 20000"/>
            </a:avLst>
          </a:prstGeom>
          <a:solidFill>
            <a:srgbClr val="1E3A48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6693408" y="2070100"/>
            <a:ext cx="8842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niche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93408" y="2413000"/>
            <a:ext cx="483991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Cross-meeting memory + action accountability —&gt; not another transcriber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93408" y="3327400"/>
            <a:ext cx="483991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6693408" y="33655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3A48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6693408" y="33655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stack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3408" y="3708400"/>
            <a:ext cx="483991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transcription, your own keys, your own </a:t>
            </a:r>
            <a:r>
              <a:rPr lang="en-US" sz="1250" dirty="0" err="1">
                <a:solidFill>
                  <a:srgbClr val="DCE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250" dirty="0">
                <a:solidFill>
                  <a:srgbClr val="DCE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—&gt; private &amp; cheap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93408" y="4622800"/>
            <a:ext cx="483991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Shape 17"/>
          <p:cNvSpPr/>
          <p:nvPr/>
        </p:nvSpPr>
        <p:spPr>
          <a:xfrm>
            <a:off x="6693408" y="4660900"/>
            <a:ext cx="580644" cy="274320"/>
          </a:xfrm>
          <a:prstGeom prst="roundRect">
            <a:avLst>
              <a:gd name="adj" fmla="val 20000"/>
            </a:avLst>
          </a:prstGeom>
          <a:solidFill>
            <a:srgbClr val="1E3A48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6693408" y="4660900"/>
            <a:ext cx="580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80" dirty="0">
                <a:solidFill>
                  <a:srgbClr val="33D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3408" y="5003800"/>
            <a:ext cx="483991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grounded and cited, so teams can act without re-checking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969000"/>
            <a:ext cx="10874959" cy="0"/>
          </a:xfrm>
          <a:prstGeom prst="line">
            <a:avLst/>
          </a:prstGeom>
          <a:noFill/>
          <a:ln w="12700">
            <a:solidFill>
              <a:srgbClr val="33376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0" name="VDiv"/>
          <p:cNvSpPr>
            <a:spLocks noChangeArrowheads="1"/>
          </p:cNvSpPr>
          <p:nvPr/>
        </p:nvSpPr>
        <p:spPr>
          <a:xfrm>
            <a:off x="6489700" y="1968500"/>
            <a:ext cx="25400" cy="4000500"/>
          </a:xfrm>
          <a:prstGeom prst="rect">
            <a:avLst/>
          </a:prstGeom>
          <a:solidFill>
            <a:srgbClr val="29A8B0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737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492662608]">
  <a:themeElements>
    <a:clrScheme name="Office">
      <a:dk1>
        <a:sysClr val="windowText" lastClr="E8E9F8"/>
      </a:dk1>
      <a:lt1>
        <a:sysClr val="window" lastClr="090B1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0A64265-2C3C-9040-9FFF-603291C563C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c4a1b2e-05f1-4a2e-8dcd-9a6f199df9e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2515</Words>
  <Application>Microsoft Macintosh PowerPoint</Application>
  <PresentationFormat>Widescreen</PresentationFormat>
  <Paragraphs>268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 [1782492662608]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SummarAI — GenAI Final Project</dc:title>
  <dc:subject>PptxGenJS Presentation</dc:subject>
  <dc:creator>Group 3</dc:creator>
  <cp:lastModifiedBy>Tina Jannasch</cp:lastModifiedBy>
  <cp:revision>8</cp:revision>
  <dcterms:created xsi:type="dcterms:W3CDTF">2026-06-26T15:48:01Z</dcterms:created>
  <dcterms:modified xsi:type="dcterms:W3CDTF">2026-06-28T16:39:05Z</dcterms:modified>
</cp:coreProperties>
</file>